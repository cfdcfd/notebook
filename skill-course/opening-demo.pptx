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全研发场景</a:t>
            </a:r>
            <a:endParaRPr lang="en-US" sz="5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Skill 开发与应用实战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96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从 Prompt 到研发组织级 Skill 资产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44988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让 agent 真过门禁、真上线、真救火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83080" y="5193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段路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5029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35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520440" y="5193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5029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2h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257800" y="5193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时长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6126480"/>
            <a:ext cx="3200400" cy="0"/>
          </a:xfrm>
          <a:prstGeom prst="line">
            <a:avLst/>
          </a:prstGeom>
          <a:noFill/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面向研发团队负责人 / 技术专家 / 平台与效能角色   ·   讲师：XXX   ·   2026-04-XX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OPENING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3108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2 / 35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今天围绕这三件事展开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33832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338328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看懂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188720" y="3657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Skill 是什么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4434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为什么是它把 agent 推到能解决问题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04208" y="2194560"/>
            <a:ext cx="33832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4208" y="2194560"/>
            <a:ext cx="3383280" cy="1645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4769968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会造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69968" y="3657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一个能让 agent 真过门禁的 Skill 长什么样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9968" y="4434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怎么造才稳、能反复用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85455" y="2194560"/>
            <a:ext cx="33832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85455" y="2194560"/>
            <a:ext cx="3383280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8351215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能选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351215" y="36576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哪些研发场景先做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51215" y="4434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怎么从一个人做到一支团队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OPENING · 愿景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3108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3 / 35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AI Native 团队的愿景：从「</a:t>
            </a:r>
            <a:pPr indent="0" marL="0">
              <a:buNone/>
            </a:pPr>
            <a:r>
              <a:rPr lang="en-US" sz="2600" b="1" dirty="0">
                <a:solidFill>
                  <a:srgbClr val="5B6470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看起来会干活</a:t>
            </a:r>
            <a:pPr indent="0" marL="0">
              <a:buNone/>
            </a:pPr>
            <a:r>
              <a:rPr lang="en-US" sz="26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」到「</a:t>
            </a:r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解决真实问题</a:t>
            </a:r>
            <a:pPr indent="0" marL="0">
              <a:buNone/>
            </a:pPr>
            <a:r>
              <a:rPr lang="en-US" sz="26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」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81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做完</a:t>
            </a:r>
            <a:pPr algn="ctr" indent="0" marL="0">
              <a:buNone/>
            </a:pPr>
            <a:r>
              <a:rPr lang="en-US" sz="18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  一张需求单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130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读需求 · 改代码 · 跑测试 · 提 PR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—— </a:t>
            </a:r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agent 真把它 merge、关单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9908" y="141732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788" y="1581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上线</a:t>
            </a:r>
            <a:pPr algn="ctr" indent="0" marL="0">
              <a:buNone/>
            </a:pPr>
            <a:r>
              <a:rPr lang="en-US" sz="18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  一次版本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72788" y="2130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changelog · release note · 部署 · wiki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27068" y="2423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—— </a:t>
            </a:r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agent 串起一条龙，可回滚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56855" y="1417320"/>
            <a:ext cx="36118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9735" y="1581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救火</a:t>
            </a:r>
            <a:pPr algn="ctr" indent="0" marL="0">
              <a:buNone/>
            </a:pPr>
            <a:r>
              <a:rPr lang="en-US" sz="18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  一次故障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939735" y="21305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监控告警进来，开始排查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94015" y="24231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—— </a:t>
            </a:r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agent 真复现、真定位，补丁能直接打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301752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12 个月前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，业界为「</a:t>
            </a:r>
            <a:pPr algn="ctr" indent="0" marL="0">
              <a:buNone/>
            </a:pPr>
            <a:r>
              <a:rPr lang="en-US" sz="1100" b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30% 代码 AI 写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」震撼 —— 但有多少</a:t>
            </a:r>
            <a:pPr algn="ctr"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真上生产、真过门禁</a:t>
            </a:r>
            <a:pPr algn="ctr" indent="0" marL="0">
              <a:buNone/>
            </a:pPr>
            <a:r>
              <a:rPr lang="en-US" sz="11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，没人敢说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今天，领跑团队不只是把比例推到 75%——</a:t>
            </a:r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更把「真解决问题」的机制装上了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3840480"/>
            <a:ext cx="5204308" cy="365760"/>
          </a:xfrm>
          <a:prstGeom prst="rect">
            <a:avLst/>
          </a:prstGeom>
          <a:solidFill>
            <a:srgbClr val="F4E5BC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840480"/>
            <a:ext cx="483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D2E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产量层 ·「看起来会干活」已成常态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64428" y="3840480"/>
            <a:ext cx="5204308" cy="365760"/>
          </a:xfrm>
          <a:prstGeom prst="rect">
            <a:avLst/>
          </a:prstGeom>
          <a:solidFill>
            <a:srgbClr val="E6F5F4"/>
          </a:solidFill>
          <a:ln/>
        </p:spPr>
      </p:sp>
      <p:sp>
        <p:nvSpPr>
          <p:cNvPr id="23" name="Text 21"/>
          <p:cNvSpPr/>
          <p:nvPr/>
        </p:nvSpPr>
        <p:spPr>
          <a:xfrm>
            <a:off x="6347308" y="3840480"/>
            <a:ext cx="4838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机制层 ·「真解决问题」已上场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4206240"/>
            <a:ext cx="5204308" cy="982980"/>
          </a:xfrm>
          <a:prstGeom prst="rect">
            <a:avLst/>
          </a:prstGeom>
          <a:solidFill>
            <a:srgbClr val="FFF7E6"/>
          </a:solidFill>
          <a:ln w="6350">
            <a:solidFill>
              <a:srgbClr val="8A6D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251960"/>
            <a:ext cx="28623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2E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🟢  Google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85329" y="4224528"/>
            <a:ext cx="2185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8A6D2E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75%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7552" y="4590288"/>
            <a:ext cx="4875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新代码 AI 生成（一年 25% → 75%）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87552" y="4864608"/>
            <a:ext cx="4875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⚠️ Opsera：AI PR 等审 4.6× 慢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87552" y="4951476"/>
            <a:ext cx="4875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Pichai @ Cloud Next · 2026-04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64428" y="4206240"/>
            <a:ext cx="5204308" cy="982980"/>
          </a:xfrm>
          <a:prstGeom prst="rect">
            <a:avLst/>
          </a:prstGeom>
          <a:solidFill>
            <a:srgbClr val="E6F5F4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9020" y="4251960"/>
            <a:ext cx="28623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⭐  Anthropic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26797" y="4224528"/>
            <a:ext cx="2185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16% → 54%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29020" y="4590288"/>
            <a:ext cx="4875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自家 PR 评审覆盖（多 agent 自动评）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329020" y="4864608"/>
            <a:ext cx="4875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real case：一行代码差点破坏 production auth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29020" y="4951476"/>
            <a:ext cx="4875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Anthropic Blog · 2026-03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2960" y="5234940"/>
            <a:ext cx="5204308" cy="982980"/>
          </a:xfrm>
          <a:prstGeom prst="rect">
            <a:avLst/>
          </a:prstGeom>
          <a:solidFill>
            <a:srgbClr val="FFF7E6"/>
          </a:solidFill>
          <a:ln w="6350">
            <a:solidFill>
              <a:srgbClr val="8A6D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5280660"/>
            <a:ext cx="28623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2E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⚠️  Microsoft（反例）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85329" y="5253228"/>
            <a:ext cx="2185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8A6D2E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30%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87552" y="5618988"/>
            <a:ext cx="4875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光推产量、未补机制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87552" y="5893308"/>
            <a:ext cx="4875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Win11 一月内 3 次紧急修复 → 设 Quality Czar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87552" y="5980176"/>
            <a:ext cx="4875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Reuters · 2026-04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164428" y="5234940"/>
            <a:ext cx="5204308" cy="982980"/>
          </a:xfrm>
          <a:prstGeom prst="rect">
            <a:avLst/>
          </a:prstGeom>
          <a:solidFill>
            <a:srgbClr val="E6F5F4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9020" y="5280660"/>
            <a:ext cx="286236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🟢  Cursor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026797" y="5253228"/>
            <a:ext cx="21858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35%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329020" y="5618988"/>
            <a:ext cx="4875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合并 PR 由 cloud agents 写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29020" y="5893308"/>
            <a:ext cx="48751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Bugbot / sandbox 自验，bug resolution 52→76%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29020" y="5980176"/>
            <a:ext cx="4875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InfoQ · 2026-04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2960" y="64008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12 个月，</a:t>
            </a:r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相变的不只是产量</a:t>
            </a:r>
            <a:pPr algn="ctr" indent="0" marL="0">
              <a:buNone/>
            </a:pPr>
            <a:r>
              <a:rPr lang="en-US" sz="1150" b="1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——领跑团队同时把「</a:t>
            </a:r>
            <a:pPr algn="ctr"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真解决问题</a:t>
            </a:r>
            <a:pPr algn="ctr" indent="0" marL="0">
              <a:buNone/>
            </a:pPr>
            <a:r>
              <a:rPr lang="en-US" sz="1150" b="1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」的机制装上了；没装的，付出了 </a:t>
            </a:r>
            <a:pPr algn="ctr" indent="0" marL="0">
              <a:buNone/>
            </a:pPr>
            <a:r>
              <a:rPr lang="en-US" sz="1150" b="1" dirty="0">
                <a:solidFill>
                  <a:srgbClr val="8A6D2E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Win11 reliability 危机</a:t>
            </a:r>
            <a:pPr algn="ctr" indent="0" marL="0">
              <a:buNone/>
            </a:pPr>
            <a:r>
              <a:rPr lang="en-US" sz="1150" b="1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 的代价。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OPENING · 卡点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3108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4 / 35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那我们和领跑团队，差在哪？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缺的不是模型，是让 agent </a:t>
            </a:r>
            <a:pPr indent="0" marL="0">
              <a:buNone/>
            </a:pPr>
            <a:r>
              <a:rPr lang="en-US" sz="1800" b="1" i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真能解决问题</a:t>
            </a:r>
            <a:pPr indent="0" marL="0">
              <a:buNone/>
            </a:pPr>
            <a:r>
              <a:rPr lang="en-US" sz="18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的「</a:t>
            </a:r>
            <a:pPr indent="0" marL="0">
              <a:buNone/>
            </a:pPr>
            <a:r>
              <a:rPr lang="en-US" sz="1800" b="1" i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规矩</a:t>
            </a:r>
            <a:pPr indent="0" marL="0">
              <a:buNone/>
            </a:pPr>
            <a:r>
              <a:rPr lang="en-US" sz="18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场景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2103120"/>
            <a:ext cx="2697480" cy="365760"/>
          </a:xfrm>
          <a:prstGeom prst="rect">
            <a:avLst/>
          </a:prstGeom>
          <a:solidFill>
            <a:srgbClr val="F4E5BC"/>
          </a:solidFill>
          <a:ln/>
        </p:spPr>
      </p:sp>
      <p:sp>
        <p:nvSpPr>
          <p:cNvPr id="9" name="Text 7"/>
          <p:cNvSpPr/>
          <p:nvPr/>
        </p:nvSpPr>
        <p:spPr>
          <a:xfrm>
            <a:off x="315468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D2E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我们的研发现状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2103120"/>
            <a:ext cx="2697480" cy="365760"/>
          </a:xfrm>
          <a:prstGeom prst="rect">
            <a:avLst/>
          </a:prstGeom>
          <a:solidFill>
            <a:srgbClr val="E6F5F4"/>
          </a:solidFill>
          <a:ln/>
        </p:spPr>
      </p:sp>
      <p:sp>
        <p:nvSpPr>
          <p:cNvPr id="11" name="Text 9"/>
          <p:cNvSpPr/>
          <p:nvPr/>
        </p:nvSpPr>
        <p:spPr>
          <a:xfrm>
            <a:off x="598932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领跑团队的 AI Native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做完 一张需求单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71800" y="2560320"/>
            <a:ext cx="2697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1C9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2606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Done / 口径 / 门禁规则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分散在文档、评审、口头约定里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06440" y="2560320"/>
            <a:ext cx="2697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6060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一份能让 agent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真过门禁的「团队规矩」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67588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上线 一次版本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71800" y="3675888"/>
            <a:ext cx="2697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1C9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372160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工具链多、步骤散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缺一条可重复执行的流程资产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806440" y="3675888"/>
            <a:ext cx="2697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721608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一份能让 agent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真跑通流程的「流程蓝本」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4791456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救火 一次故障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71800" y="4791456"/>
            <a:ext cx="2697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1C9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483717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经验停在口述与临时群消息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沉淀不下来，下次还得重教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806440" y="4791456"/>
            <a:ext cx="2697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9320" y="4837176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一份能让 agent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真复现问题的「修复经验包」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778240" y="2514600"/>
            <a:ext cx="2743200" cy="3200400"/>
          </a:xfrm>
          <a:prstGeom prst="rect">
            <a:avLst/>
          </a:prstGeom>
          <a:solidFill>
            <a:srgbClr val="E6F5F4"/>
          </a:solidFill>
          <a:ln w="12700">
            <a:solidFill>
              <a:srgbClr val="00A89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877824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📷 群聊截图位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61120" y="3429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OpenClaw 内部推广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大家觉得「没什么用」的回声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outline/assets/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slide-04-openclaw-chat.png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77824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A896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「我们也撞过同样的回声」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OPENING · 答案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3108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5 / 35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Skill：行业愿景里，缺的那一环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307592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Prompt / Workflow / RAG / MCP 之后，行业接住了「会干活」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783080"/>
            <a:ext cx="10545775" cy="329184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1783080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范式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1783080"/>
            <a:ext cx="36346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它解决的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88699" y="1783080"/>
            <a:ext cx="4515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它没解决的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112264"/>
            <a:ext cx="10545775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11226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Prompt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24912" y="2112264"/>
            <a:ext cx="36346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给模型一次性指令——「开机键」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88699" y="2112264"/>
            <a:ext cx="4515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承载不了复杂、可复用、可维护的业务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2441448"/>
            <a:ext cx="10545775" cy="329184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2441448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Workflow / 编排链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24912" y="2441448"/>
            <a:ext cx="36346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用流程把任务串起来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88699" y="2441448"/>
            <a:ext cx="4515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重、维护成本高、不灵活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2770632"/>
            <a:ext cx="10545775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" y="277063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RAG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24912" y="2770632"/>
            <a:ext cx="36346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给模型补外部知识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88699" y="2770632"/>
            <a:ext cx="4515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解决「知道什么」，不解决「怎么做」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3099816"/>
            <a:ext cx="10545775" cy="329184"/>
          </a:xfrm>
          <a:prstGeom prst="rect">
            <a:avLst/>
          </a:prstGeom>
          <a:solidFill>
            <a:srgbClr val="F6F7F8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3099816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MCP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24912" y="3099816"/>
            <a:ext cx="36346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标准化工具调用接口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88699" y="3099816"/>
            <a:ext cx="4515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能调工具，但不封装流程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" y="3429000"/>
            <a:ext cx="10545775" cy="329184"/>
          </a:xfrm>
          <a:prstGeom prst="rect">
            <a:avLst/>
          </a:prstGeom>
          <a:solidFill>
            <a:srgbClr val="E6F5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3429000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★ Skill 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724912" y="3429000"/>
            <a:ext cx="36346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把上面四样的经验打包成模块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88699" y="3429000"/>
            <a:ext cx="4515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可发现 + 可复用 + 可按需加载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" y="3840480"/>
            <a:ext cx="36118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387705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🅛 领跑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0965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Anthropic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  ·  </a:t>
            </a:r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2025-10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2960" y="434340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7552" y="461772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1143000" y="4471416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Agent Skills</a:t>
            </a:r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 方法论 [R2]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87552" y="510540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4959096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概念三件套：description + instructions + scripts + resources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87552" y="559308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/>
          <p:nvPr/>
        </p:nvSpPr>
        <p:spPr>
          <a:xfrm>
            <a:off x="1143000" y="5446776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加载机制：progressive disclosure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289908" y="3840480"/>
            <a:ext cx="36118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4472788" y="387705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🅢 跟随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472788" y="40965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顶流采纳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  ·  </a:t>
            </a:r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2025-12 ~ 2026-04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289908" y="434340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54500" y="461772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6" name="Text 44"/>
          <p:cNvSpPr/>
          <p:nvPr/>
        </p:nvSpPr>
        <p:spPr>
          <a:xfrm>
            <a:off x="4609948" y="4471416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Cursor 3 直接采纳 "Skills" 命名 · MCPs / Skills / Subagents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335628" y="4940808"/>
            <a:ext cx="3520440" cy="432816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48" name="Text 46"/>
          <p:cNvSpPr/>
          <p:nvPr/>
        </p:nvSpPr>
        <p:spPr>
          <a:xfrm>
            <a:off x="4381348" y="4959096"/>
            <a:ext cx="3200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🔥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01388" y="4940808"/>
            <a:ext cx="310896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Cursor 自家 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35% 合并 PR by cloud agents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454500" y="559308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1" name="Text 49"/>
          <p:cNvSpPr/>
          <p:nvPr/>
        </p:nvSpPr>
        <p:spPr>
          <a:xfrm>
            <a:off x="4609948" y="5446776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业界第三方独立分类：Skill = 第三种 AI Agent 架构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756855" y="3840480"/>
            <a:ext cx="361188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3" name="Text 51"/>
          <p:cNvSpPr/>
          <p:nvPr/>
        </p:nvSpPr>
        <p:spPr>
          <a:xfrm>
            <a:off x="7939735" y="387705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🅑 破圈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939735" y="409651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OpenClaw 生态</a:t>
            </a:r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  ·  </a:t>
            </a:r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2026-03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7756855" y="4343400"/>
            <a:ext cx="36118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DBD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02575" y="4453128"/>
            <a:ext cx="3520440" cy="432816"/>
          </a:xfrm>
          <a:prstGeom prst="rect">
            <a:avLst/>
          </a:prstGeom>
          <a:solidFill>
            <a:srgbClr val="FFF7E6"/>
          </a:solidFill>
          <a:ln/>
        </p:spPr>
      </p:sp>
      <p:sp>
        <p:nvSpPr>
          <p:cNvPr id="57" name="Text 55"/>
          <p:cNvSpPr/>
          <p:nvPr/>
        </p:nvSpPr>
        <p:spPr>
          <a:xfrm>
            <a:off x="7848295" y="4471416"/>
            <a:ext cx="3200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🔥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168335" y="4453128"/>
            <a:ext cx="3108960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2026-03-02 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单日 +15K stars</a:t>
            </a:r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（230K → 244K）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921447" y="510540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0" name="Text 58"/>
          <p:cNvSpPr/>
          <p:nvPr/>
        </p:nvSpPr>
        <p:spPr>
          <a:xfrm>
            <a:off x="8076895" y="4959096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累计 365K ★ / ClawHub 3,200+ 社区 Skill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921447" y="5593080"/>
            <a:ext cx="73152" cy="731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2" name="Text 60"/>
          <p:cNvSpPr/>
          <p:nvPr/>
        </p:nvSpPr>
        <p:spPr>
          <a:xfrm>
            <a:off x="8076895" y="5446776"/>
            <a:ext cx="3200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3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跨 23+ 消息平台 / 多模型（Claude / GPT / Gemini / 本地）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371600" y="6053328"/>
            <a:ext cx="9448495" cy="0"/>
          </a:xfrm>
          <a:prstGeom prst="line">
            <a:avLst/>
          </a:prstGeom>
          <a:noFill/>
          <a:ln w="9525">
            <a:solidFill>
              <a:srgbClr val="D6DBD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2960" y="6126480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业界已把它命名为「第三种 AI Agent 架构」——不只是 Anthropic 的产品形态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22960" y="64465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让 agent 从「</a:t>
            </a:r>
            <a:pPr algn="ctr"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看起来会干活</a:t>
            </a:r>
            <a:pPr algn="ctr"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」真正走到「</a:t>
            </a:r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解决真实问题</a:t>
            </a:r>
            <a:pPr algn="ctr" indent="0" marL="0">
              <a:buNone/>
            </a:pPr>
            <a:r>
              <a:rPr lang="en-US" sz="1700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」的那一环 = </a:t>
            </a:r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Skill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108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OPENING · 地图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20095" y="3108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6 / 35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3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一张地图，三段路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3330245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71800"/>
            <a:ext cx="333024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30 分钟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3302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🟣 是什么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314736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看懂 Skill 怎么让 agent 真过门禁、真跑通、真复现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53205" y="2926080"/>
            <a:ext cx="4440326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153205" y="2971800"/>
            <a:ext cx="44403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40 分钟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53205" y="3794760"/>
            <a:ext cx="44403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🟢 怎么造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44645" y="4343400"/>
            <a:ext cx="42574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从能跑、能稳，到团队反复套用、长期维护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93531" y="2926080"/>
            <a:ext cx="277520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593531" y="2971800"/>
            <a:ext cx="27752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SC, Microsoft YaHei, Arial Black" pitchFamily="34" charset="0"/>
                <a:ea typeface="PingFang SC, Microsoft YaHei, Arial Black" pitchFamily="34" charset="-122"/>
                <a:cs typeface="PingFang SC, Microsoft YaHei, Arial Black" pitchFamily="34" charset="-120"/>
              </a:rPr>
              <a:t>25 分钟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93531" y="3794760"/>
            <a:ext cx="2775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🔵 怎么用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4971" y="4343400"/>
            <a:ext cx="25923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哪些研发场景先做，怎么从一个 Skill 长成一片资产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470"/>
                </a:solidFill>
                <a:latin typeface="PingFang SC, Microsoft YaHei, Calibri" pitchFamily="34" charset="0"/>
                <a:ea typeface="PingFang SC, Microsoft YaHei, Calibri" pitchFamily="34" charset="-122"/>
                <a:cs typeface="PingFang SC, Microsoft YaHei, Calibri" pitchFamily="34" charset="-120"/>
              </a:rPr>
              <a:t>前三页讲「为什么是 Skill」，接下来三段讲「怎么把 agent 真送进生产」。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全研发场景 Skill 开发与应用实战</dc:title>
  <dc:subject>PptxGenJS Presentation</dc:subject>
  <dc:creator>Skill 内训课</dc:creator>
  <cp:lastModifiedBy>Skill 内训课</cp:lastModifiedBy>
  <cp:revision>1</cp:revision>
  <dcterms:created xsi:type="dcterms:W3CDTF">2026-04-30T02:30:45Z</dcterms:created>
  <dcterms:modified xsi:type="dcterms:W3CDTF">2026-04-30T02:30:45Z</dcterms:modified>
</cp:coreProperties>
</file>